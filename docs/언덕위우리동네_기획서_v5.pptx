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B2D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1F3B2D"/>
                </a:solidFill>
                <a:latin typeface="Malgun Gothic"/>
              </a:rPr>
              <a:t>오르막 경사별 소요시간 배수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오르막 소요시간 배수</c:v>
                </c:pt>
              </c:strCache>
            </c:strRef>
          </c:tx>
          <c:spPr>
            <a:solidFill>
              <a:srgbClr val="E8743B"/>
            </a:solidFill>
            <a:ln w="31750" cap="flat">
              <a:solidFill>
                <a:srgbClr val="E87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8743B"/>
              </a:solidFill>
              <a:ln w="9525" cap="flat">
                <a:solidFill>
                  <a:srgbClr val="E87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0%</c:v>
                  </c:pt>
                  <c:pt idx="1">
                    <c:v>2%</c:v>
                  </c:pt>
                  <c:pt idx="2">
                    <c:v>4%</c:v>
                  </c:pt>
                  <c:pt idx="3">
                    <c:v>6%</c:v>
                  </c:pt>
                  <c:pt idx="4">
                    <c:v>8%</c:v>
                  </c:pt>
                  <c:pt idx="5">
                    <c:v>10%</c:v>
                  </c:pt>
                  <c:pt idx="6">
                    <c:v>12%</c:v>
                  </c:pt>
                  <c:pt idx="7">
                    <c:v>14%</c:v>
                  </c:pt>
                  <c:pt idx="8">
                    <c:v>16%</c:v>
                  </c:pt>
                  <c:pt idx="9">
                    <c:v>18%</c:v>
                  </c:pt>
                  <c:pt idx="10">
                    <c:v>20%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</c:v>
                </c:pt>
                <c:pt idx="1">
                  <c:v>1.07</c:v>
                </c:pt>
                <c:pt idx="2">
                  <c:v>1.15</c:v>
                </c:pt>
                <c:pt idx="3">
                  <c:v>1.23</c:v>
                </c:pt>
                <c:pt idx="4">
                  <c:v>1.32</c:v>
                </c:pt>
                <c:pt idx="5">
                  <c:v>1.42</c:v>
                </c:pt>
                <c:pt idx="6">
                  <c:v>1.52</c:v>
                </c:pt>
                <c:pt idx="7">
                  <c:v>1.63</c:v>
                </c:pt>
                <c:pt idx="8">
                  <c:v>1.75</c:v>
                </c:pt>
                <c:pt idx="9">
                  <c:v>1.88</c:v>
                </c:pt>
                <c:pt idx="10">
                  <c:v>2.01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2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6625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"지도앱의 7분이 누군가에게는 14분"이라는 한 문장으로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서면 심사에서 이 한 장으로 아이디어·데이터·결과·활용이 잡히도록 구성했습니다.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길을 세 번 계산합니다. 지도앱 7분, 고령자 평지 9분, 경사 반영 14분. 예시 계산임을 밝히고, 실측 뒤에는 실제 구간 값으로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 전에 사람을 보여줍니다. 가상 인물임을 밝히고, 실제 근거는 다음 장들에서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서울 면적의 31%가 구릉지, 고령인구 20% 돌파. 선행연구는 이미 51곳의 이동취약지역을 찾았습니다.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직선 110m를 휠체어로 770m 돌아가야 했던 실제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정책을 만들자는 게 아니라, 진행 중인 사업의 다음 후보지 선정을 데이터로 돕자는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서울시 방식을 비판하지 않고 보완한다는 톤. 계단 기준이 보지 못하는 세 가지를 짚습니다.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서울동행맵과의 차이를 반드시 짚습니다. 개인 길안내가 아니라 행정의 입지 판단 도구입니다.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데이터가 서로 없으면 성립하지 않는 구조. 건물 용도는 건축물대장으로 보완합니다.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방법은 한 장으로. 세부는 부록으로 보냈습니다.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왕복 기준을 쓰는 이유: 집이 언덕 위인지 아래인지에 따른 편향을 없애기 위해서입니다.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방문일수는 기술평가 항목입니다. 실제 방문일과 작업을 증빙과 맞춥니다.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핵심 장표. 한 문장 인사이트를 제목에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계산이 아니라 직접 걸어서 잰 값이라는 점을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검증은 한 장으로 압축. "믿어도 되는가"와 "왜 이 데이터인가"를 함께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공공기관 심사위원이 가장 원하는 장표. 바로 검토할 수 있는 목록을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하나와 확장 넷. 확장 활용은 각 부서가 자기 조건(도로 폭, 예산 등)과 함께 판단하는 입력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활용. 등시선 그림은 평지 기준 10분권이 경사를 넣으면 얼마나 찌그러지는지를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예시임을 밝힙니다. 실제 결과로 바뀌는 장표입니다.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시설을 지을 수 없는 곳도 버리지 않습니다. 사람이 찾아가는 방식으로 부담을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교통·보행 부서는 자기 기준(도로 폭, 사고, 예산)과 함께 판단하는 입력 자료로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동행맵과 경쟁하지 않고, 동행맵에 없는 지역 부담 정보를 더하는 방향입니다. 화면은 구상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본선 데모로 이어질 화면입니다. 동 선택, 후보 확인, 시설 놓아 보기, 효과 확인의 흐름.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한계는 짧게 먼저 밝혀 질의응답에 대비합니다.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표지의 7분과 수미상관으로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데이터+AI 혁신 챌린지 · 데이터안심구역 경진대회 (한국국토정보공사)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위 우리동네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반영 이동약자 접근성 지도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8346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지도앱의 7분이, 누군가에게는 14분입니다.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서비스명 evenly  ·  팀명 ○○○  |  2026.10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한 장 요약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부담을 숫자로 만들어, 다섯 가지 결정에 씁니다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1417320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2402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 도보 시간에 "오르막"을 더하면, 평지 지도가 숨긴 동네가 보입니다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95728" y="2176272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24912" y="1417320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2491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724912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724912" y="22402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수치지형도·DEM·필지에 건축물대장, SKT·KCB·교통사고를 더합니다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98848" y="2176272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28032" y="1417320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2803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28032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28032" y="22402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구 집집마다 언덕 부담 지수, 우선 검토 후보, 시설 효과를 계산합니다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601968" y="2176272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6656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31152" y="1417320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31152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31152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31152" y="224028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입지부터 돌봄·교통·길안내까지, 같은 지도 하나로 결정합니다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씁니다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이동편의시설 입지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2121408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CEBE2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121408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방문돌봄 대상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785616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CEBE2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785616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정류장 검토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49824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CEBE2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49824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보행로·계단 정비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114032" y="379476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FCEBE2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114032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길안내 서비스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활용은 이동편의시설 입지, 나머지는 같은 지도를 다른 부서가 쓰는 확장 활용입니다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한 사람의 귀갓길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450m, 다른 시간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931920" y="676656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74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931920" y="676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계산</a:t>
            </a:r>
            <a:endParaRPr lang="en-US" sz="1050" dirty="0"/>
          </a:p>
        </p:txBody>
      </p:sp>
      <p:pic>
        <p:nvPicPr>
          <p:cNvPr id="8" name="Image 1" descr="img/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80160"/>
            <a:ext cx="5120640" cy="247802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669280" y="128016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806440" y="1389888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3990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 도보 안내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949440" y="17007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· 성인 보행속도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669280" y="2176272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806440" y="22860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9분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6949440" y="22951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고령자 보행속도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949440" y="2596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경사는 아직 반영 전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669280" y="3072384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806440" y="318211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14분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6949440" y="31912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오르막 경사까지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94944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지도앱 안내의 2배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580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집은 언덕 위, 약국은 언덕 아래. 돌아오는 길은 고도 54m를 올라야 합니다.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계산: 성인 1.1m/s, 고령자 0.8m/s, 평균 경사 12% 오르막, Tobler 보행함수. 현장 실측 구간 값으로 교체 예정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한 사람의 귀갓길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김순자 할머니(78)의 "약 받는 날"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69280" y="676656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74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0" y="676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인물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810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집을 나선다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21284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내리막이라 금방이지만, 넘어질까 무릎이 긴장한다.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95728" y="2423160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2801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24912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09:40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2724912" y="1810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약국 도착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2724912" y="221284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3주치 약봉투가 생각보다 무겁다.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98848" y="2423160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12801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28032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09:50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828032" y="1810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돌아오는 길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28032" y="221284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오르막 중간에 두 번 멈춘다. 담벼락이 쉼터다.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01968" y="2423160"/>
            <a:ext cx="146304" cy="201168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66560" y="1280160"/>
            <a:ext cx="1920240" cy="2148840"/>
          </a:xfrm>
          <a:prstGeom prst="roundRect">
            <a:avLst>
              <a:gd name="adj" fmla="val 3810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31152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181051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받는 날을 미룬다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931152" y="2212848"/>
            <a:ext cx="162763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비·눈·폭염인 날은 나가지 않는다.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703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문제는 거리가 아니라 "돌아오는 오르막"이고, 이 부담은 지금 어떤 지도에도 없습니다.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보도·연구 사례를 바탕으로 구성한 가상 인물입니다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문제의 규모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사람의 이야기가 아닙니다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4447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31%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14813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면적 중 구릉지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저층 주거가 밀집하고 인프라 설치가 어려운 지형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44475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20.43%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14813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65세 이상 인구 비중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처음으로 20%를 넘었습니다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26974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2862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51곳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28986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구릉지 고령자 이동취약지역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거주 고령인구 16,773명, 25개 구 중 17개 구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269748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92040" y="286207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420m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6766560" y="289864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후기고령자 평균 이동거리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35661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75세 이상 어르신이 걷는 거리의 한계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서울의 3분의 1이 언덕이고, 5명 중 1명이 어르신입니다.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구릉지 고령자 이동취약지역 분석 연구(한국공간디자인학회 논문집) / 행정안전부 2025 주민등록 인구통계 / 이소민·오성훈(2025) 토지주택연구 16(1)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실제 사례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지도와 현실의 차이는 이미 현장에서 확인됩니다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중구 신당동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대현산배수지공원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5740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 190개, 약 110m. 휠체어는 약 770m를 돌아가야 했습니다.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모노레일 설치, 3~4분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종로구 숭인동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창신역 일대 계단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05740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길이 115m, 경사 30도 이상. 학생 통학로이기도 합니다.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경사형 엘리베이터, 2027 준공 목표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128016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13898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관악구 봉천동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1664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비안어린이공원 인근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217920" y="205740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가파른 계단을 피해 주민들이 200m 이상 돌아갔습니다.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108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수직 엘리베이터·데크길 추진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886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110m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1828800" y="388620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2194560" y="38862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770m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8862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휠체어에게 같은 목적지는 약 7배 멀었습니다. 이런 곳을 미리 찾아낼 도구가 필요합니다.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서울시 구릉지 이동편의 개선사업 보도자료(2020.11) / 내 손안에 서울(2025.06.13)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정책 흐름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서울시는 이미 200억 원을 들여, 다음 후보지를 찾고 있습니다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77240" y="2011680"/>
            <a:ext cx="7406640" cy="0"/>
          </a:xfrm>
          <a:prstGeom prst="line">
            <a:avLst/>
          </a:prstGeom>
          <a:noFill/>
          <a:ln w="25400">
            <a:solidFill>
              <a:srgbClr val="7FA88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87452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331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후암동 108하늘계단, 서울 첫 경사형 엘리베이터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29968" y="187452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01368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2020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801368" y="2331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주민공모로 모노레일·엘리베이터 대상지 선정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19856" y="1874520"/>
            <a:ext cx="274320" cy="274320"/>
          </a:xfrm>
          <a:prstGeom prst="ellipse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91256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191256" y="2331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자치구 전수조사로 급경사 계단 후보 25곳 발굴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09744" y="187452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81144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81144" y="2331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타당성 조사 뒤 5곳 선정, 총 200억 원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99632" y="1874520"/>
            <a:ext cx="274320" cy="274320"/>
          </a:xfrm>
          <a:prstGeom prst="ellipse">
            <a:avLst/>
          </a:prstGeom>
          <a:solidFill>
            <a:srgbClr val="E87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71032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71032" y="2331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종로구 무악동 85계단 공모 선정, 40억 원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589520" y="1874520"/>
            <a:ext cx="274320" cy="274320"/>
          </a:xfrm>
          <a:prstGeom prst="ellipse">
            <a:avLst/>
          </a:prstGeom>
          <a:solidFill>
            <a:srgbClr val="1F3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60920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360920" y="2331720"/>
            <a:ext cx="1298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선정 5곳 준공 목표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3794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예산과 정책은 움직이고 있습니다. 필요한 것은 다음 후보지를 같은 기준으로 비교하고 효과를 미리 계산할 도구입니다.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내 손안에 서울(2023), 서울시 보도자료(2020.11, 2025.06), 아주경제(2025.02.20), 경향신문(2026.02.24)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문제 정의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서울시는 가파른 "계단"을 찾았고, 우리는 가파른 "일상"을 찾습니다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발굴 기준 (2024 전수조사)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20도·폭 2.5m·길이 30m 이상 계단 + 민원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 밖에 남는 것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8368" y="2487168"/>
            <a:ext cx="365760" cy="365760"/>
          </a:xfrm>
          <a:prstGeom prst="ellipse">
            <a:avLst/>
          </a:prstGeom>
          <a:solidFill>
            <a:srgbClr val="56625B"/>
          </a:solidFill>
          <a:ln w="12700">
            <a:solidFill>
              <a:srgbClr val="56625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4688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계단이 없는 급경사 도로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8368" y="3145536"/>
            <a:ext cx="365760" cy="365760"/>
          </a:xfrm>
          <a:prstGeom prst="ellipse">
            <a:avLst/>
          </a:prstGeom>
          <a:solidFill>
            <a:srgbClr val="56625B"/>
          </a:solidFill>
          <a:ln w="12700">
            <a:solidFill>
              <a:srgbClr val="5662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31272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2.5m 미만의 좁은 계단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58368" y="3803904"/>
            <a:ext cx="365760" cy="365760"/>
          </a:xfrm>
          <a:prstGeom prst="ellipse">
            <a:avLst/>
          </a:prstGeom>
          <a:solidFill>
            <a:srgbClr val="56625B"/>
          </a:solidFill>
          <a:ln w="12700">
            <a:solidFill>
              <a:srgbClr val="56625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785616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길을 쓰는 사람과 목적지(병원·약국·역)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709160" y="1280160"/>
            <a:ext cx="3977640" cy="3291840"/>
          </a:xfrm>
          <a:prstGeom prst="roundRect">
            <a:avLst>
              <a:gd name="adj" fmla="val 2222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10328" y="1389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evenly 의 기준 (사람 중심)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910328" y="17007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필수시설까지 실제 걷는 길의 부담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10328" y="2487168"/>
            <a:ext cx="365760" cy="36576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1032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394960" y="2468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계단·급경사 도로를 한 잣대(언덕 부담 지수)로 비교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910328" y="3145536"/>
            <a:ext cx="365760" cy="36576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910328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94960" y="312724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집집마다 병원·약국·역까지 오르막 부담 계산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910328" y="3803904"/>
            <a:ext cx="365760" cy="365760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10328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394960" y="378561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전, 수혜 인원과 단축 시간을 미리 계산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evenly 는 서울시 방식을 대체하지 않고, 다음 후보지 발굴과 비교를 보완합니다 / 출처: 서울시 보도자료(2025.06), 아주경제(2025.02.20)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기존 방법·서비스와의 차이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방법과 서비스가 보지 못하는 것을 채웁니다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325880"/>
                <a:gridCol w="201168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쓰나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보나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보지 못하는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서울시 전수조사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(2024)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서울시·자치구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 경사·폭·길이, 민원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후보지 25곳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 없는 급경사 길, 거주자·목적지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서울동행맵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(2024.11~)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시민 개인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단차·경사·보도폭·엘리베이터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가는 길 안내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우선순위, 시설 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선행연구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연구자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지역 단위 취약지역, 이동거리 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취약지역 51곳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단위 경로 부담, 시설 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evenly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서울시·자치구 정책 담당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집→필수시설 실제 경로의 오르막·계단 부담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언덕 부담 지도, 우선 후보, 시설 1기 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662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지반·규제·보상 (현장 조사 단계)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동행맵이 "오늘 가는 길"을 안내한다면, evenly 는 "어디에 길을 새로 낼지"를 정합니다.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서울시 교통정보(2024.11) 서울동행맵, 서울시 보도자료(2025.06), 선행연구는 부록 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활용 데이터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길·높이·집: 미개방데이터 3종을 하나의 보행 모델로 잇습니다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미개방데이터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수치지형도_수도권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2024.11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도로중심선·계단·건물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"길"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4612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미개방데이터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5M_수도권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429000" y="19202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2024.11 (2021 기준)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5m 격자 고도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"높이"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35040" y="128016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미개방데이터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국토정보필지_전국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1920240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2024~2025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필지 번호로 건물과 대장 연결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"집의 위치"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상호제공데이터 (가점)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49300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SKT 60세 이상 유동인구 · KCB 행정동 소득 · 도로교통공단 교통사고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외출·소득·안전과 언덕 부담의 관계 (보조 관찰)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3493008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건축물대장(건물 용도·층수), 약국·지하철 엘리베이터 위치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고령·장애인·독거노인 인구, 서울 도보 네트워크(대조군)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목록과 기간은 부록 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분석 방법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단계로 "체감 거리"를 계산합니다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536192" cy="2240280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1417320"/>
            <a:ext cx="402336" cy="402336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202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만들기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304288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도로중심선·계단을 30m 링크 네트워크로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11680" y="2468880"/>
            <a:ext cx="109728" cy="182880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30552" y="1280160"/>
            <a:ext cx="1536192" cy="2240280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95144" y="1417320"/>
            <a:ext cx="402336" cy="402336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295144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295144" y="19202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 입히기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2295144" y="2304288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5m로 링크마다 오르막·내리막 경사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85032" y="2468880"/>
            <a:ext cx="109728" cy="182880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03904" y="1280160"/>
            <a:ext cx="1536192" cy="2240280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68496" y="1417320"/>
            <a:ext cx="402336" cy="402336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68496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968496" y="19202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집과 목적지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968496" y="2304288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 건물 ↔ 병원·약국·지하철 엘리베이터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358384" y="2468880"/>
            <a:ext cx="109728" cy="182880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77256" y="1280160"/>
            <a:ext cx="1536192" cy="2240280"/>
          </a:xfrm>
          <a:prstGeom prst="roundRect">
            <a:avLst>
              <a:gd name="adj" fmla="val 476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41848" y="1417320"/>
            <a:ext cx="402336" cy="402336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41848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41848" y="19202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사람별 시간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641848" y="2304288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고령자: 경사 보정 속도 / 휠체어: 계단 불가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031736" y="2468880"/>
            <a:ext cx="109728" cy="182880"/>
          </a:xfrm>
          <a:prstGeom prst="chevron">
            <a:avLst/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50608" y="1280160"/>
            <a:ext cx="1536192" cy="2240280"/>
          </a:xfrm>
          <a:prstGeom prst="roundRect">
            <a:avLst>
              <a:gd name="adj" fmla="val 4762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15200" y="1417320"/>
            <a:ext cx="402336" cy="402336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315200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0" y="192024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지수와 효과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7315200" y="2304288"/>
            <a:ext cx="12618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지수, 우선 후보, 시설 시뮬레이션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200" y="37490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749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안심구역 안에서 자동 점검(setup·check) 후 실행하고, 격자·행정동 집계만 반출합니다.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전처리와 경사 모델은 부록 2, 가정값과 민감도는 부록 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핵심 지표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지수: 평지보다 몇 배 걸리는가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61872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984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=  경사 반영 왕복 시간  ÷  평지 가정 왕복 시간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17007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사람이, 같은 집에서, 같은 목적지까지. 1.0이면 평지와 같습니다.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7FA88E"/>
          </a:solidFill>
          <a:ln w="12700">
            <a:solidFill>
              <a:srgbClr val="7FA88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 ~ 1.3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057400" y="224028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수준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7200" y="2898648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E0A23A"/>
          </a:solidFill>
          <a:ln w="12700">
            <a:solidFill>
              <a:srgbClr val="E0A2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8986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1.3 ~ 1.8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057400" y="28986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체감 부담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7200" y="3557016"/>
            <a:ext cx="1463040" cy="530352"/>
          </a:xfrm>
          <a:prstGeom prst="roundRect">
            <a:avLst>
              <a:gd name="adj" fmla="val 10345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55701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1.8 이상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057400" y="355701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위험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3794760" y="2240280"/>
            <a:ext cx="4892040" cy="1847088"/>
          </a:xfrm>
          <a:prstGeom prst="roundRect">
            <a:avLst>
              <a:gd name="adj" fmla="val 3960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7764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김순자 할머니의 귀갓길 (편도)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977640" y="2670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14.3분</a:t>
            </a:r>
            <a:pPr indent="0" marL="0">
              <a:buNone/>
            </a:pPr>
            <a:r>
              <a:rPr lang="en-US" sz="24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÷  9.4분  =  </a:t>
            </a:r>
            <a:pPr indent="0" marL="0">
              <a:buNone/>
            </a:pPr>
            <a:r>
              <a:rPr lang="en-US" sz="2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1.52배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3977640" y="32918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"분"이라 누구나 이해하고, 시설 설치 전후를 같은 잣대로 비교할 수 있습니다. 비율이라 보행속도 가정에도 덜 흔들립니다.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지표는 왕복 기준. 예시는 귀갓길 편도 배수 / 구간 경계값은 현장 실측·분포 확인 후 조정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데이터안심구역 분석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데이터안심구역에서 직접 분석했습니다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방문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2026.10.02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구조 점검, 수도권 shp 확보, 실데이터로 분석 코드 실행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 방문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2026.10.__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분석, 시설 시뮬레이션, 결과 반출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28016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13898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 방문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1719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2026.10.__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0574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현장실측 반영, 민감도·보완 분석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안심구역 밖 사전 준비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657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공개데이터로 코드를 미리 시험하고, 자료 구조가 달라도 스스로 맞추는 자동 점검 도구를 준비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32461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반출 원칙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846320" y="365760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250m 격자·행정동 집계만 반출, 건물 5개 미만 칸 제외. 건물·필지 단위 결과와 소유 정보는 반출하지 않음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방문일은 실제 일자로 기입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분석 결과 ① 사각지대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지도에서 "가까운 동네"의 ___%가 실제로는 부담 구간입니다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846320" cy="3337560"/>
          </a:xfrm>
          <a:prstGeom prst="roundRect">
            <a:avLst>
              <a:gd name="adj" fmla="val 2192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566928" y="1280160"/>
            <a:ext cx="462686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지도 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구 250m 격자 · 언덕 부담 지수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32120" y="1280160"/>
            <a:ext cx="3154680" cy="804672"/>
          </a:xfrm>
          <a:prstGeom prst="roundRect">
            <a:avLst>
              <a:gd name="adj" fmla="val 909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71500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위험(HBI 1.8 이상) 건물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71500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___채 (전체의 ___%)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532120" y="2194560"/>
            <a:ext cx="3154680" cy="804672"/>
          </a:xfrm>
          <a:prstGeom prst="roundRect">
            <a:avLst>
              <a:gd name="adj" fmla="val 909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1500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집에 사는 어르신 (추정)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71500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___명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532120" y="3108960"/>
            <a:ext cx="3154680" cy="804672"/>
          </a:xfrm>
          <a:prstGeom prst="roundRect">
            <a:avLst>
              <a:gd name="adj" fmla="val 909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3200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부담이 가장 큰 동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___동 (HBI ___)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532120" y="4041648"/>
            <a:ext cx="3154680" cy="576072"/>
          </a:xfrm>
          <a:prstGeom prst="roundRect">
            <a:avLst>
              <a:gd name="adj" fmla="val 12698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0" y="4041648"/>
            <a:ext cx="2926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거리만 보는 지도에서는 이 동네들이 "가깝다"고 나옵니다.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고령인구는 행정동 65세 이상 인구를 주거 연면적 비율로 배분한 추정치 (행정안전부 주민등록 인구통계)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현장실측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걸어서 확인했습니다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20240" cy="1353312"/>
          </a:xfrm>
          <a:prstGeom prst="roundRect">
            <a:avLst>
              <a:gd name="adj" fmla="val 5405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566928" y="1280160"/>
            <a:ext cx="17007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대현산배수지공원 계단·모노레일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14600" y="1280160"/>
            <a:ext cx="1920240" cy="1353312"/>
          </a:xfrm>
          <a:prstGeom prst="roundRect">
            <a:avLst>
              <a:gd name="adj" fmla="val 5405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2624328" y="1280160"/>
            <a:ext cx="17007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신당동 주택가 오르막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761488"/>
            <a:ext cx="1920240" cy="1353312"/>
          </a:xfrm>
          <a:prstGeom prst="roundRect">
            <a:avLst>
              <a:gd name="adj" fmla="val 5405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566928" y="2761488"/>
            <a:ext cx="17007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청구동 마을마당 계단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14600" y="2761488"/>
            <a:ext cx="1920240" cy="1353312"/>
          </a:xfrm>
          <a:prstGeom prst="roundRect">
            <a:avLst>
              <a:gd name="adj" fmla="val 5405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624328" y="2761488"/>
            <a:ext cx="1700784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자리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청계천 산책로 (평지)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평지 · 청계천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· 주택가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 · 청구동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급경사 · 대현산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46320" y="3566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대현산 모노레일  대기 </a:t>
            </a:r>
            <a:pPr indent="0" marL="0">
              <a:buNone/>
            </a:pPr>
            <a:r>
              <a:rPr lang="en-US" sz="12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___초</a:t>
            </a:r>
            <a:pPr indent="0" marL="0">
              <a:buNone/>
            </a:pPr>
            <a:r>
              <a:rPr lang="en-US" sz="1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탑승 </a:t>
            </a:r>
            <a:pPr indent="0" marL="0">
              <a:buNone/>
            </a:pPr>
            <a:r>
              <a:rPr lang="en-US" sz="12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성인이 평소 걸음으로 측정, 고도계 앱으로 높이 차 기록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측정일 2026.10.__ / 사람 얼굴·집 안·번지 표지는 찍지 않음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분석 결과 ② 믿을 수 있는 결과인가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현장과 맞고, LX 데이터 없이는 보이지 않습니다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현장과 맞는가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서울시 2025 선정지 5곳 중 상위 10%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___곳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대현산 휠체어 우회 (서울시 약 770m)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___m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현장실측 4구간, 예측 vs 실측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= ___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13716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LX 데이터가 왜 필요한가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1755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공개데이터만 쓰면 놓치는 부담 구간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___%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높이(DEM)를 빼면 바뀌는 상위 10%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___%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84632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계단을 빼면 휠체어 거리 과소 계산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34930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___m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높이와 계단은 LX 데이터에만 있습니다. 공개 도보 네트워크에는 계단 구분이 없습니다.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선정지 백분위: 반경 300m 원 평균끼리 비교 / 공개 대조군: 서울 도보 네트워크 + 30m 공개 지형, 250m 격자 단위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정책 제안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어디부터 무엇을: 우선 검토 후보 ___곳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914400"/>
                <a:gridCol w="1188720"/>
                <a:gridCol w="1188720"/>
                <a:gridCol w="155448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HBI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시설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여지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예상 효과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대비 효과: </a:t>
            </a:r>
            <a:pPr indent="0" marL="0">
              <a:buNone/>
            </a:pPr>
            <a:r>
              <a:rPr lang="en-US" sz="12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원당 수혜 고령자 </a:t>
            </a:r>
            <a:pPr indent="0" marL="0">
              <a:buNone/>
            </a:pPr>
            <a:r>
              <a:rPr lang="en-US" sz="12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처방: 엘리베이터 / 계단 정비 / 방문돌봄. 설치가 어려운 곳도 버리지 않습니다.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가정: 1곳 약 40억 원 (서울시 5곳 200억 원, 무악동 1곳 40억 원) / 설치 여지 = 후보 주변 필지의 도로·공원 비율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활용 방안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부담 지도 하나로, 다섯 가지 결정을 돕습니다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2423160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보고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 이동편의시설 입지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서울시·자치구 균형발전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부담 상위 지역 + 설치 여지 + 시설 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 후보, 예산 대비 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  방문돌봄 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자치구 복지·보건소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고립 위험 × 독거노인·장애인 × 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 우선 동·가구 규모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  정류장 검토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자치구 교통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정류장까지 부담이 큰 주거지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정류장 신설·이전 검토 지역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  보행로·계단 정비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자치구 도로·건설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부담 큰 경로 위 계단·급경사 + 사고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난간·쉼터·열선 우선순위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  길안내 서비스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서울동행맵·지도앱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구간별 경사 비용, 지역 부담 지수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오르막 반영 도보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4160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지도를 부서마다 다른 질문에 씁니다. 다음 장부터 하나씩 보여 드립니다.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활용 ① 이동편의시설 입지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발굴부터 예산 효과까지 한 번에 비교합니다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408176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280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발굴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12801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상위 지역을 계단 기준 밖까지 포함해 찾음 → 후보 ___곳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01168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4360" y="2139696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여지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주변 필지의 도로·공원 비율로 1차 거르기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274320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871216"/>
            <a:ext cx="384048" cy="384048"/>
          </a:xfrm>
          <a:prstGeom prst="ellipse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7432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비교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240280" y="27432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 1기당 수혜 가구, 평균 단축 분, 휠체어 신규 도달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474720"/>
            <a:ext cx="4480560" cy="640080"/>
          </a:xfrm>
          <a:prstGeom prst="roundRect">
            <a:avLst>
              <a:gd name="adj" fmla="val 1142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" y="3602736"/>
            <a:ext cx="384048" cy="384048"/>
          </a:xfrm>
          <a:prstGeom prst="ellipse">
            <a:avLst/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097280" y="347472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검토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240280" y="34747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원당 수혜 어르신으로 우선순위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120640" y="128016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7F2"/>
          </a:solidFill>
          <a:ln w="15875">
            <a:solidFill>
              <a:srgbClr val="E8743B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5230368" y="1280160"/>
            <a:ext cx="33467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등시선 그림 자리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선정지에서 10분 안에 걸어 닿는 범위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평지 가정 vs 경사 반영 vs 휠체어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200" y="425196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5800" y="42519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"민원이 많은 곳"이 아니라 "효과가 큰 곳"부터 설치할 근거를 줍니다.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가정: 1곳 약 40억 원 (서울시 5곳 200억 원, 무악동 1곳 40억 원)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한 사람에게 돌아가는 변화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엘리베이터 한 대가 바꾸는 김순자 할머니의 귀갓길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223760" y="27432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E8743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23760" y="274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시뮬레이션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71907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14분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514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 1.52 · 오르막에서 두 번 쉼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궂은 날은 약 받는 날을 미룸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60520" y="2148840"/>
            <a:ext cx="640080" cy="457200"/>
          </a:xfrm>
          <a:prstGeom prst="rightArrow">
            <a:avLst/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280160"/>
            <a:ext cx="3749040" cy="2194560"/>
          </a:xfrm>
          <a:prstGeom prst="roundRect">
            <a:avLst>
              <a:gd name="adj" fmla="val 3333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138928" y="1389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가파른 150m 구간에 경사형 엘리베이터 1기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138928" y="171907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10분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5138928" y="2514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HBI 약 1.0 · 평지와 같은 부담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쉬지 않고 집에 도착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703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계산을 집집마다 하면 "엘리베이터 한 대가 몇 명의 하루에서 몇 분을 돌려주는지" 설치 전에 알 수 있습니다.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가정: 엘리베이터 대기 60초, 1m/s / 실제 선정지 계단 좌표로 시설 설치 시뮬레이션 후 교체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활용 ② 방문돌봄 대상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위 혼자 사는 어르신을 먼저 찾아갑니다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돌봄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낮음 · 돌봄 수요 많음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514600" y="128016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최우선 방문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18288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높음 · 돌봄 수요 많음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69748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낮음 · 돌봄 수요 적음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2514600" y="2697480"/>
            <a:ext cx="1965960" cy="1325880"/>
          </a:xfrm>
          <a:prstGeom prst="roundRect">
            <a:avLst>
              <a:gd name="adj" fmla="val 5517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51760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지원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5176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높음 · 돌봄 수요 적음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2514600" y="40690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언덕 부담 (HBI)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돌봄 수요: 독거노인·장애인 ↑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09160" y="1280160"/>
            <a:ext cx="3977640" cy="786384"/>
          </a:xfrm>
          <a:prstGeom prst="roundRect">
            <a:avLst>
              <a:gd name="adj" fmla="val 930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위험 × 독거노인이 겹치는 동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1645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___곳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709160" y="2176272"/>
            <a:ext cx="3977640" cy="786384"/>
          </a:xfrm>
          <a:prstGeom prst="roundRect">
            <a:avLst>
              <a:gd name="adj" fmla="val 930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92040" y="2267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외출이 적은(SKT 60세 이상) 고위험 동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489204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___곳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709160" y="3072384"/>
            <a:ext cx="3977640" cy="786384"/>
          </a:xfrm>
          <a:prstGeom prst="roundRect">
            <a:avLst>
              <a:gd name="adj" fmla="val 930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9204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저소득(KCB)과 겹치는 고위험 동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4892040" y="3438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___곳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709160" y="397764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46320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보건소 방문건강관리, 돌봄SOS, 방문 약료의 대상 선정에 씁니다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외출·소득은 행정동 단위 보조 지표이며 상관 관찰입니다 / SKT는 60세 이상 기준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활용 ③ 교통·보행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정류장과 계단, 어디부터 손볼지 정합니다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마을버스 정류장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7556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정류장까지 부담이 큰 주거지를 찾아 정류장 신설·이전 검토 지역으로 제시합니다.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지역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880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___곳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 폭·회차 공간은 교통 부서가 함께 확인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2788920"/>
          </a:xfrm>
          <a:prstGeom prst="roundRect">
            <a:avLst>
              <a:gd name="adj" fmla="val 2623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보행로·계단 정비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75564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 큰 경로가 지나는 계단·급경사 구간에 난간·쉼터·미끄럼 방지·열선 순위를 매깁니다.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 보행자 사고가 겹치는 구간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880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61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___곳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3429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자료: 도로교통공단 (법정동 단위)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4206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공사 전에, 작은 개선으로 줄일 수 있는 부담부터 찾습니다.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활용 ④ 길안내 서비스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도보 시간에 "오르막"을 더합니다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00" dirty="0"/>
          </a:p>
        </p:txBody>
      </p:sp>
      <p:pic>
        <p:nvPicPr>
          <p:cNvPr id="6" name="Image 1" descr="img/mob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3441802" cy="29992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26280" y="1280160"/>
            <a:ext cx="4160520" cy="2926080"/>
          </a:xfrm>
          <a:prstGeom prst="roundRect">
            <a:avLst>
              <a:gd name="adj" fmla="val 2500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70916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709160" y="16916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450m라도 오르막과 계단을 출발 전에 알려 줍니다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어르신·휠체어 모드에서 계단 없는 완만한 길을 고릅니다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709160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방식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709160" y="2999232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서울동행맵 등에 지역 부담 지수와 구간 경사 정보를 공공데이터로 제공합니다. 구간 단위 원자료는 반출 제한이 있어 기관 간 협의나 공개데이터 재구축으로 연계합니다.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85800" y="4297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시민에게는 "출발 전에 아는 오르막", 행정에는 "고칠 곳의 목록"이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evenly 화면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담당자는 이렇게 씁니다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3429000" y="5486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동을 고르고, 후보를 보고, 시설을 놓아 보면 효과가 바로 나옵니다</a:t>
            </a:r>
            <a:endParaRPr lang="en-US" sz="1250" dirty="0"/>
          </a:p>
        </p:txBody>
      </p:sp>
      <p:pic>
        <p:nvPicPr>
          <p:cNvPr id="7" name="Image 1" descr="img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07008"/>
            <a:ext cx="8229600" cy="34747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예시(구상), 가상 수치 / 본선에서는 실제 결과 격자로 동작하는 데모로 시연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 확산과 한계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구에서 시작해, 서울 전역과 전국으로 넓힙니다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35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7276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구 시범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30552" y="128016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67712" y="1335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267712" y="157276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자치구 후보 검토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03904" y="128016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41064" y="1335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941064" y="157276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전역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77256" y="128016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1F3B2D"/>
          </a:solidFill>
          <a:ln w="12700">
            <a:solidFill>
              <a:srgbClr val="1F3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14416" y="1335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614416" y="157276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사업·서비스 연계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150608" y="1280160"/>
            <a:ext cx="1536192" cy="777240"/>
          </a:xfrm>
          <a:prstGeom prst="roundRect">
            <a:avLst>
              <a:gd name="adj" fmla="val 9412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87768" y="1335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287768" y="157276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구릉지 · 매년 갱신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2402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" y="2633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선정의 공통 기준, 예산 효과의 사전 근거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46120" y="22402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10712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3410712" y="2633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동행맵·지도앱에 오르막 정보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035040" y="22402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99632" y="2313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확산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199632" y="26334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LX 데이터로 부산 산복도로 등 전국 구릉지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대응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457200" y="374904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37490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발굴까지가 역할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3520440" y="37490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지반·규제·보상은 다음 단계 현장 타당성 조사로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57200" y="4206240"/>
            <a:ext cx="822960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0080" y="420624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보도 폭·실제 외출은 모름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3520440" y="420624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도로중심선 기준, 외출은 보조 관찰로만 사용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63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살든,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011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7분은 7분이어야 합니다.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971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evenly</a:t>
            </a:r>
            <a:pPr indent="0" marL="0">
              <a:buNone/>
            </a:pPr>
            <a:r>
              <a:rPr lang="en-US" sz="14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even = 평평한 + 공평한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언덕 위 우리동네 · 경사 반영 이동약자 접근성 지도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 ○○○  |  한국국토정보공사 데이터 활용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부록 1. 활용 데이터 목록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데이터 목록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920240"/>
                <a:gridCol w="2377440"/>
                <a:gridCol w="1280160"/>
                <a:gridCol w="1828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기간·기준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미개방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한국국토정보공사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수치지형도_수도권 (shp)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길·계단·건물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미개방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한국국토정보공사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 5M_수도권 (img)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2024.11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링크 경사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74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미개방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한국국토정보공사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국토정보필지_전국 (shp)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2024~2025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건물↔대장 연결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상호제공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SKT · KCB · 도로교통공단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유동인구·소득·교통사고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2020~2024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보조 관찰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서울시 · 행정안전부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건축물대장·법정동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용도·층수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공공데이터포털·서울시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약국·엘리베이터·도보망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목적지·대조군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행정안전부 · 서울시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고령·장애인·독거노인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2025~2026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수혜 인원 추정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선행연구: 이희연 외(2015) 서울도시연구 / 구릉지 고령자 이동취약지역 연구 / 이소민·오성훈(2025) / 강현미·박소현(2009)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부록 2. 방법 상세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전처리와 경사 모델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수치지형도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6916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도로중심선·계단 추출, 교차점 분할, 끊긴 끝점 10m 연결, 30m 링크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 5M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8346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 통일(EPSG:5186), 링크 양 끝 고도, ±40% 초과는 자름, 다리·터널 경사 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3566160"/>
            <a:ext cx="4114800" cy="1024128"/>
          </a:xfrm>
          <a:prstGeom prst="roundRect">
            <a:avLst>
              <a:gd name="adj" fmla="val 7143"/>
            </a:avLst>
          </a:prstGeom>
          <a:solidFill>
            <a:srgbClr val="FCEBE2"/>
          </a:solidFill>
          <a:ln w="12700">
            <a:solidFill>
              <a:srgbClr val="FCEB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건물·필지·대장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97764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중심점 → 필지 → 건축물대장, 주용도로 주거·의료·노유자, 연결률 보고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754880" y="1280160"/>
          <a:ext cx="39319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92040" y="36576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고령자 </a:t>
            </a:r>
            <a:pPr indent="0" marL="0">
              <a:buNone/>
            </a:pPr>
            <a:r>
              <a:rPr lang="en-US" sz="11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0.8m/s × Tobler 배수, 내리막은 오르막 부담의 50%, 계단 최소 25%·1.2배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휠체어 </a:t>
            </a:r>
            <a:pPr indent="0" marL="0">
              <a:buNone/>
            </a:pPr>
            <a:r>
              <a:rPr lang="en-US" sz="1100" dirty="0">
                <a:solidFill>
                  <a:srgbClr val="223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1.0m/s, 1/12 초과는 10배(회피), 계단 통행 불가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Tobler 보행함수 v = 6·exp(−3.5·|s+0.05|) km/h / 휠체어 경사 기준: 장애인·노인·임산부 등의 편의증진 보장에 관한 법률 시행규칙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부록 3. 가정값과 민감도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가정을 바꿔도 결론이 유지되는가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20240"/>
                <a:gridCol w="2651760"/>
                <a:gridCol w="16459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바꿨을 때 (순위상관)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고령자 보행속도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0.8m/s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 (민감도로 점검)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내리막 부담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오르막의 50%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 (0%·100% 비교)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 25% 경사, 1.2배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가정 (1.5배 비교)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휠체어 경사 한계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1/12 (8.3%)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법정 경사로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모노레일·엘리베이터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60초, 0.6~1.0m/s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서울시 발표(110m, 3~4분) + 실측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612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반출 최소 건물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302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비식별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662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순위상관이 0.9 이상이면 "누가 더 취약한가"의 순서가 가정에 크게 흔들리지 않는다는 뜻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ontour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-1097280"/>
            <a:ext cx="548640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7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  부록 4. 핵심 코드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경사 비용 계산 (발췌)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8321040" y="4818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F4F6F4"/>
          </a:solidFill>
          <a:ln w="12700">
            <a:solidFill>
              <a:srgbClr val="F4F6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25880"/>
            <a:ext cx="78638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tobler(s):                       # 경사 s → 보행속도 km/h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6.0 * np.exp(-3.5 * np.abs(s + 0.05))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tobler(0.0)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elder_time(length, s, stair):    # 고령자 링크 통과 시간(초)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np.where(stair, np.sign(s + 1e-9) * np.maximum(np.abs(s), 0.25), 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 = FLAT / tobler(np.abs(s))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down = 1 + C.DOWNHILL_WEIGHT * (up - 1)   # 내리막은 오르막 부담의 일부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factor = np.where(s &gt;= 0, FLAT / tobler(s), down)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length / C.ELDER_SPEED * factor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np.where(stair, t * C.STAIR_FACTOR, t)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wheel_time(length, s, stair):    # 휠체어: 1/12 초과는 사실상 회피, 계단 불가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 = np.maximum(s, 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length / (C.WHEEL_SPEED * np.maximum(0.4, 1 - 5 * up))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np.where(np.abs(s) &gt; C.WHEEL_LIMIT, t * C.WHEEL_STEEP_PENALTY, 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np.where(stair, np.inf, t)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77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662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analysis/hbi/lib/model.py 발췌 / 실행 환경: QGIS 3.32 내장 Python, numpy·GDAL, 자체 다익스트라, 자동 점검(setup·check)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언덕 위 우리동네: 경사 반영 이동약자 접근성 지도</dc:title>
  <dc:subject>PptxGenJS Presentation</dc:subject>
  <dc:creator>PptxGenJS</dc:creator>
  <cp:lastModifiedBy>PptxGenJS</cp:lastModifiedBy>
  <cp:revision>1</cp:revision>
  <dcterms:created xsi:type="dcterms:W3CDTF">2026-10-06T01:47:18Z</dcterms:created>
  <dcterms:modified xsi:type="dcterms:W3CDTF">2026-10-06T01:47:18Z</dcterms:modified>
</cp:coreProperties>
</file>