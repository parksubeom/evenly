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2302A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22302A"/>
                </a:solidFill>
                <a:latin typeface="Malgun Gothic"/>
              </a:rPr>
              <a:t>오르막 경사별 소요시간 배수 (Tobler 보행함수)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평지 대비 소요시간 배수</c:v>
                </c:pt>
              </c:strCache>
            </c:strRef>
          </c:tx>
          <c:spPr>
            <a:solidFill>
              <a:srgbClr val="E8743B"/>
            </a:solidFill>
            <a:ln w="38100" cap="flat">
              <a:solidFill>
                <a:srgbClr val="E874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43B"/>
              </a:solidFill>
              <a:ln w="9525" cap="flat">
                <a:solidFill>
                  <a:srgbClr val="E874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2%</c:v>
                  </c:pt>
                  <c:pt idx="2">
                    <c:v>4%</c:v>
                  </c:pt>
                  <c:pt idx="3">
                    <c:v>6%</c:v>
                  </c:pt>
                  <c:pt idx="4">
                    <c:v>8%</c:v>
                  </c:pt>
                  <c:pt idx="5">
                    <c:v>10%</c:v>
                  </c:pt>
                  <c:pt idx="6">
                    <c:v>12%</c:v>
                  </c:pt>
                  <c:pt idx="7">
                    <c:v>14%</c:v>
                  </c:pt>
                  <c:pt idx="8">
                    <c:v>16%</c:v>
                  </c:pt>
                  <c:pt idx="9">
                    <c:v>18%</c:v>
                  </c:pt>
                  <c:pt idx="10">
                    <c:v>20%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1.07</c:v>
                </c:pt>
                <c:pt idx="2">
                  <c:v>1.15</c:v>
                </c:pt>
                <c:pt idx="3">
                  <c:v>1.23</c:v>
                </c:pt>
                <c:pt idx="4">
                  <c:v>1.32</c:v>
                </c:pt>
                <c:pt idx="5">
                  <c:v>1.42</c:v>
                </c:pt>
                <c:pt idx="6">
                  <c:v>1.52</c:v>
                </c:pt>
                <c:pt idx="7">
                  <c:v>1.63</c:v>
                </c:pt>
                <c:pt idx="8">
                  <c:v>1.75</c:v>
                </c:pt>
                <c:pt idx="9">
                  <c:v>1.88</c:v>
                </c:pt>
                <c:pt idx="10">
                  <c:v>2.01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F6B64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F6B64"/>
                    </a:solidFill>
                    <a:latin typeface="Arial"/>
                  </a:rPr>
                  <a:t>오르막 경사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1"/>
        </c:scaling>
        <c:delete val="0"/>
        <c:axPos val="l"/>
        <c:majorGridlines>
          <c:spPr>
            <a:ln w="6350" cap="flat">
              <a:solidFill>
                <a:srgbClr val="E5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"지도앱의 7분이 누군가에게는 14분"이라는 한 문장으로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후킹 장표. 같은 길을 세 번 계산합니다. 지도앱 7분, 고령자 평지 9분, 경사 반영 14분. 지도에는 이 차이가 표시되지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 전에 사람을 먼저 보여줍니다. 가상 인물임을 반드시 밝히고, 실제 사례는 다음 장들에서 근거로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서울 면적의 31%가 구릉지이고, 서울은 2025년 처음 고령인구 20%를 넘었습니다. 선행연구는 이미 51곳의 이동취약지역을 찾아냈습니다.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서울시 사례입니다. 직선 110m를 휠체어로는 770m 돌아가야 했던 곳. 이런 곳을 민원 이전에 데이터로 찾는 것이 제안의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제안은 새로운 정책을 만들자는 것이 아니라, 이미 진행 중인 정책의 입지 선정을 데이터로 돕자는 것입니다. 심사에서 실현 가능성을 보여주는 장표입니다.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방식을 비판하기보다 보완한다는 톤으로 설명합니다. 특히 목소리를 내기 어려운 곳이 누락될 수 있다는 점이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선행연구를 충분히 검토했다는 신호를 주는 장표. 각 연구의 한계를 지적하기보다 "우리가 무엇을 더하는지"로 표현합니다.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미개방데이터 3종이 서로 없으면 성립하지 않는 구조라는 점. 상호제공데이터는 결과 검증용으로 연계합니다.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간 연계 활용의 완성도를 보여주는 장표. 공간 스냅, 방향 그래프, 경사 비용 세 단계로 결합합니다.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방문일수는 기술평가 점수입니다. 실제 방문일을 기입하고, 일자별 작업을 증빙과 일치시키세요.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전처리 타당성은 예선 논리성 항목. 좌표계, 토폴로지, 이상값 처리를 구체적으로 보여줍니다. 명세 확인 후 세부 기준은 수정하세요.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오르막과 내리막을 구분하는 방향 그래프가 기술적 핵심입니다. 같은 길이라도 가는 길과 오는 길의 비용이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검증된 보행함수를 사용해 자의적인 가중치가 아님을 보여줍니다. 고령자와 휠체어 사용자는 서로 다른 모델이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복잡한 모델을 한 숫자로 요약합니다. 이름을 붙인 지표는 심사위원이 기억하기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안심구역 분석 후 실제 지도와 숫자로 교체합니다. ___ 표시는 모두 실제 값으로 채워야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분석결과의 타당성과 신뢰성(본선 우수성 30점)을 담당하는 장표. 전문가 판단 재현, 실측 비교, 새로운 발견 세 가지를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본선 데이터 활용성 30점의 "분석결과 미개방데이터 활용 기여도"에 직접 답하는 장표입니다.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상호제공데이터 연계 가점 장표. 가설이 기각되더라도 그 자체가 인사이트이니 결과를 그대로 보고합니다.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축으로 개입 유형을 나눕니다. 모든 곳에 엘리베이터가 필요한 것은 아니며, 사분면별로 다른 처방을 제안합니다.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하나의 지도가 네 가지 정책에 바로 쓰일 수 있음을 보여줍니다. 활용 주체를 명시해 실현 가능성을 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제안의 효능감을 한 사람의 변화로 보여주는 장표. 14분이 10분이 되는 것, 그리고 쉬지 않고 집에 갈 수 있다는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본선 실현 가능성 30점의 기대효과와 확산 가능성 항목. 공익 효과는 반드시 숫자로 채우세요.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먼저 밝히면 질의응답이 쉬워집니다. 예상 질문 대부분이 이 세 가지에서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첫 장의 7분으로 돌아와 메시지를 닫습니다.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코드는 별도 첨부(증빙자료). 실제 데이터 컬럼명에 맞게 수정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한국국토정보공사 데이터 활용 아이디어 제안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위 우리동네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 반영 이동약자 접근성 지도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지도앱의 7분이, 누군가에게는 14분입니다.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 ○○○  |  2026.10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한 사람의 귀갓길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450m, 다른 거리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pic>
        <p:nvPicPr>
          <p:cNvPr id="6" name="Image 1" descr="img/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5120640" cy="24780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0" y="13258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806440" y="14356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7분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6903720" y="1472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지도앱 도보 안내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6903720" y="17465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평지 · 성인 보행속도 기준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669280" y="22402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06440" y="23500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9분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23865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길, 고령자 보행속도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903720" y="2660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경사는 아직 반영 전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669280" y="31546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806440" y="32644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14분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690372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오르막 경사까지 반영하면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6903720" y="35753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지도앱 안내의 2배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집은 언덕 위, 약국은 언덕 아래. 가는 길은 내리막이지만 돌아오는 길은 고도 54m를 올라야 합니다.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가정: 성인 1.1m/s, 고령자 0.8m/s, 평균 경사 12% 오르막 / 경사 보정은 Tobler 보행함수 적용 / 팀 자체 산출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한 사람의 귀갓길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김순자 할머니(78)의 "약 받는 날"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241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실제 보도·연구 사례를 바탕으로 구성한 가상 인물입니다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09:30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집을 나선다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28600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내리막이라 금방이지만 무릎이 먼저 긴장한다. 내려가는 길은 넘어질까 무섭다.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95728" y="2432304"/>
            <a:ext cx="146304" cy="201168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41732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24912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09:40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724912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약국 도착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724912" y="228600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고혈압·관절약 3주치를 받는다. 약봉투가 생각보다 무겁다.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98848" y="2432304"/>
            <a:ext cx="146304" cy="201168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141732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28032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09:50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828032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돌아오는 길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828032" y="228600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오르막 중간에서 두 번 멈춘다. 전봇대와 남의 집 담벼락이 쉼터다.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601968" y="2432304"/>
            <a:ext cx="146304" cy="201168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66560" y="141732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31152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달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931152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받는 날을 미룬다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931152" y="228600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 오는 날, 눈 오는 날, 폭염인 날은 나가지 않는다. 그렇게 한 주가 밀린다.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거리가 아니라 "돌아오는 오르막"입니다. </a:t>
            </a:r>
            <a:pPr indent="0" marL="0">
              <a:buNone/>
            </a:pPr>
            <a:r>
              <a:rPr lang="en-US" sz="135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이 부담은 지금 어떤 지도에도 표시되지 않습니다.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문제의 규모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사람의 이야기가 아닙니다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508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15819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면적 중 구릉지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40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등 인프라 설치가 어렵고 저층 주거가 밀집한 지형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508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20.43%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15819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65세 이상 인구 비중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240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처음으로 20%를 넘어 초고령 도시에 진입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51곳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2560320" y="32278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구릉지 고령자 이동취약지역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886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지역 거주 고령인구 16,773명, 25개 구 중 17개 구에 분포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29718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420m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32278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75세 이상 고령자의 평균 이동거리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3886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공원시설 조건에서 측정된 후기고령자의 보행 한계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GIS 분석을 통한 구릉지 고령자 이동취약지역 분석 연구(한국공간디자인학회 논문집) / 행정안전부 2025년 주민등록 인구통계 / 이소민·오성훈(2025), 토지주택연구 16(1)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실제 사례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지도와 현실의 괴리는 이미 현장에서 확인됩니다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중구 신당동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7190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대현산배수지공원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0312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 190개, 약 110m 구간. 휠체어 이용자는 약 770m를 돌아가야 했다.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06324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곡선형 모노레일 설치, 3~4분 만에 공원 도착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2900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종로구 숭인동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17190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창신역 일대 계단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210312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115m, 경사 30도 이상의 급경사 계단. 인근 학생 통학로로도 쓰인다.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306324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경사형 엘리베이터 추진, 2027년 준공 목표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13258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관악구 봉천동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7190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비안어린이공원 인근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210312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 근처에서 장을 본 주민들이 가파른 계단을 피해 200m 이상 우회해 왔다.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306324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수직 엘리베이터와 데크길 추진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886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110m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1828800" y="388620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2194560" y="38862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770m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8862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휠체어 이용자에게 같은 목적지는 약 7배 멀었습니다. 이 차이를 사전에 찾아낼 도구가 필요합니다.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서울시 구릉지 이동편의 개선사업 보도자료(2020.11) / 내 손안에 서울(2025.06.13) 고지대 이동편의시설 우선 설치대상지 발표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정책 흐름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정책은 이미 움직이고 있습니다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7040880" cy="0"/>
          </a:xfrm>
          <a:prstGeom prst="line">
            <a:avLst/>
          </a:prstGeom>
          <a:noFill/>
          <a:ln w="25400">
            <a:solidFill>
              <a:srgbClr val="7FA88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" y="2011680"/>
            <a:ext cx="274320" cy="274320"/>
          </a:xfrm>
          <a:prstGeom prst="ellipse">
            <a:avLst/>
          </a:prstGeom>
          <a:solidFill>
            <a:srgbClr val="1F3B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4630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38912" y="246888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지역균형발전 구상에 구릉지 이동편의 개선 포함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95728" y="2011680"/>
            <a:ext cx="274320" cy="274320"/>
          </a:xfrm>
          <a:prstGeom prst="ellipse">
            <a:avLst/>
          </a:prstGeom>
          <a:solidFill>
            <a:srgbClr val="1F3B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48840" y="14630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130552" y="246888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주민공모로 대상지 선정, 모노레일·경사형 엘리베이터 도입 시작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087368" y="2011680"/>
            <a:ext cx="274320" cy="274320"/>
          </a:xfrm>
          <a:prstGeom prst="ellipse">
            <a:avLst/>
          </a:prstGeom>
          <a:solidFill>
            <a:srgbClr val="E87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40480" y="14630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822192" y="246888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후보지 25곳 중 5곳 우선 설치 대상 선정 (중곡·화곡·봉천·숭인·신당)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779008" y="2011680"/>
            <a:ext cx="274320" cy="274320"/>
          </a:xfrm>
          <a:prstGeom prst="ellipse">
            <a:avLst/>
          </a:prstGeom>
          <a:solidFill>
            <a:srgbClr val="1F3B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32120" y="14630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513832" y="246888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서울시장 선거에서 고지대 이동약자 편의시설이 공약으로 재등장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70648" y="2011680"/>
            <a:ext cx="274320" cy="274320"/>
          </a:xfrm>
          <a:prstGeom prst="ellipse">
            <a:avLst/>
          </a:prstGeom>
          <a:solidFill>
            <a:srgbClr val="1F3B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23760" y="14630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205472" y="2468880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선정 5곳 준공 목표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예산과 정책 의지는 이미 있습니다.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것은 "어디가 가장 급한가"에 대한 서울 전역 단위의 객관적 근거입니다.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내 손안에 서울(2020.01, 2025.06) / 서울시 보도자료(2020.11) / 뉴스1(2026.05.11)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문제 정의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서울에서 가장 먼저 엘리베이터가 필요한 곳은 어디인가?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방식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8105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공모·신청으로 올라온 후보지를 선정위원회가 심사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377440"/>
            <a:ext cx="384048" cy="384048"/>
          </a:xfrm>
          <a:prstGeom prst="ellipse">
            <a:avLst/>
          </a:prstGeom>
          <a:solidFill>
            <a:srgbClr val="5F6B64"/>
          </a:solidFill>
          <a:ln w="12700">
            <a:solidFill>
              <a:srgbClr val="5F6B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3591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목소리를 내기 어려운 곳은 후보에도 오르지 못한다. 거동이 불편한 사람일수록 민원도 어렵다.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3090672"/>
            <a:ext cx="384048" cy="384048"/>
          </a:xfrm>
          <a:prstGeom prst="ellipse">
            <a:avLst/>
          </a:prstGeom>
          <a:solidFill>
            <a:srgbClr val="5F6B64"/>
          </a:solidFill>
          <a:ln w="12700">
            <a:solidFill>
              <a:srgbClr val="5F6B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07238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후보지끼리 비교할 공통 기준이 없다.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3803904"/>
            <a:ext cx="384048" cy="384048"/>
          </a:xfrm>
          <a:prstGeom prst="ellipse">
            <a:avLst/>
          </a:prstGeom>
          <a:solidFill>
            <a:srgbClr val="5F6B64"/>
          </a:solidFill>
          <a:ln w="12700">
            <a:solidFill>
              <a:srgbClr val="5F6B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78561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 몇 명이 얼마나 편해지는지 수치로 말하기 어렵다.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132588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8348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방식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18105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먼저 후보지를 찾는다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83480" y="2377440"/>
            <a:ext cx="384048" cy="38404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9834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23591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전역 주거 필지를 전수 스크리닝해서, 신청이 없어도 찾아낸다.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983480" y="3090672"/>
            <a:ext cx="384048" cy="38404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8348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0" y="307238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필지를 "언덕 부담 지수" 하나의 기준으로 비교한다.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983480" y="3803904"/>
            <a:ext cx="384048" cy="38404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98348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0" y="378561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효과를 "몇 명 × 몇 분 단축"으로 계산한다.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선행연구 검토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선행연구가 밝힌 것, 우리가 더하는 것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06240"/>
                <a:gridCol w="2286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발견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더하는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이희연 외(2015)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서울도시연구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경사지 저소득 노인 밀집지구는 녹지는 풍부하지만 보행환경이 열악하고 대중교통·공공시설 접근성이 불량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경사를 정량화해 보행시간으로 환산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구릉지 고령자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이동취약지역 연구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구릉지 이동취약지역 51곳, 거주 고령인구 16,773명 도출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단위에서 필지 단위로 세분화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이소민·오성훈(2025)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토지주택연구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후기고령자 평균 이동거리 약 420m, 보도 없는 보차혼용도로에서 경로 1.3배 증가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거리 한계에 경사 부담을 결합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강현미·박소현(2009)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대한건축학회논문집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구릉지 아파트단지에서 보행약자 이동 평가틀 제안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단지 단위에서 도시 전역으로 확장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0690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CEBE2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 단위 분석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246120" y="40690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CEBE2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246120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오르막·내리막 방향 구분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035040" y="40690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CEBE2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035040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고령자·휠체어 사용자별 모델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활용 데이터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미개방데이터 3종을 하나의 보행 모델로 연결합니다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89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한국국토정보공사 · 미개방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609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국토정보필지_전국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2024.06 ~ 2025.07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주거용 필지 추출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분석의 출발점, "집"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28016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1389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한국국토정보공사 · 미개방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1609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수치지형도_수도권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2024.11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도로·보도·계단·건물 레이어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네트워크, "길"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128016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1389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한국국토정보공사 · 미개방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1609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 5M_수도권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2024.11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5m 격자 고도값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링크별 경사, "언덕"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1546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상호제공데이터 (가점 연계)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566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성·연령별 유동인구(2024)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경사가 고령자 외출을 줄이는지 검증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코리아크레딧뷰로 행정동 소득 통계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부담과 저소득 고령층의 중첩 분석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63440" y="31546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공개데이터 (반입 신청)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3566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약국·의원·버스정류장·복지관 위치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공공데이터포털, 서울 열린데이터광장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행정동별 65세 이상 인구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 주민등록 인구통계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데이터 연계 구조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데이터는 이렇게 하나로 묶입니다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89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국토정보필지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 지목 필지 → 필지 중심점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532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수치지형도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 중심선·계단 → 노드·링크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35661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3675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 5M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양 끝점 고도 샘플링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926080" y="1627632"/>
            <a:ext cx="411480" cy="274320"/>
          </a:xfrm>
          <a:prstGeom prst="rightArrow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26080" y="2770632"/>
            <a:ext cx="411480" cy="274320"/>
          </a:xfrm>
          <a:prstGeom prst="rightArrow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26080" y="3913632"/>
            <a:ext cx="411480" cy="274320"/>
          </a:xfrm>
          <a:prstGeom prst="rightArrow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29000" y="128016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616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① 공간 스냅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56616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 중심점을 최근접 보행 노드에 연결 (거리 임계값 설정)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429000" y="242316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66160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② 방향 그래프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566160" y="2834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링크마다 정방향·역방향 두 개의 비용 생성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429000" y="356616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566160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③ 경사 비용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356616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고도차 ÷ 링크 길이 → 오르막·내리막 경사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172200" y="128016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5508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173736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필지별 언덕 부담 지수(HBI)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고령자·휠체어 각각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단위 집계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SKT 유동인구, KCB 소득과 결합 (행정동 코드 기준)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후보지별 효과 지표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수혜 인원 × 단축 시간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데이터안심구역 분석 수행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5일간 안심구역에서 수행한 작업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508760" cy="20116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89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17373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731520" y="17373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2026.  .  .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488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 파악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필지·도로·DEM 전처리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30552" y="1280160"/>
            <a:ext cx="1508760" cy="20116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67712" y="1389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67712" y="17373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404872" y="17373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2026.  .  .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267712" y="21488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네트워크 구축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링크별 경사 계산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03904" y="1280160"/>
            <a:ext cx="1508760" cy="20116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41064" y="1389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941064" y="17373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4078224" y="17373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2026.  .  .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941064" y="21488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구 HBI 산출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고령자·휠체어 모델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77256" y="1280160"/>
            <a:ext cx="1508760" cy="20116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14416" y="1389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4일차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14416" y="17373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751576" y="17373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2026.  .  .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614416" y="21488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선정지 검증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기여도 분석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150608" y="1280160"/>
            <a:ext cx="1508760" cy="2011680"/>
          </a:xfrm>
          <a:prstGeom prst="roundRect">
            <a:avLst>
              <a:gd name="adj" fmla="val 4848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287768" y="1389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287768" y="17373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7424928" y="17373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2026.  .  .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287768" y="21488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상호제공데이터 결합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정리·반출 심사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 (안심구역 밖)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385876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DEM·도로 데이터로 분석 코드를 미리 완성하고 테스트. 방문 시간은 실데이터 적용과 결과 도출에 집중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6344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반출 결과물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4846320" y="385876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행정동·격자 단위 집계 결과, 시각화 지도, 검증 통계표. 개별 필지 원자료는 반출하지 않음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전처리 파이프라인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원자료를 분석 가능한 형태로 만드는 과정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국토정보필지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181051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지목·용도지역 기준 주거 필지 필터링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40080" y="2432304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" y="241401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 중심점(내부점) 생성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640080" y="3035808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" y="301752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공동주택 필지 별도 표시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40080" y="3639312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" y="362102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구 경계로 클리핑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324612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2900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수치지형도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429000" y="1828800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290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904488" y="181051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 중심선·보도·계단 레이어 추출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3429000" y="2432304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2900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904488" y="241401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토폴로지 정리: 끊긴 선 연결, 중복 제거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3429000" y="3035808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290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904488" y="301752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20~50m 단위 링크 분할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3429000" y="3639312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2900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3904488" y="362102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 속성 태깅 (휠체어 통행 불가)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603504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21792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 5M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217920" y="1828800"/>
            <a:ext cx="384048" cy="38404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179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693408" y="181051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 통일 (EPSG:5186)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6217920" y="2432304"/>
            <a:ext cx="384048" cy="38404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21792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693408" y="241401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결측·이상값 보간</a:t>
            </a:r>
            <a:endParaRPr lang="en-US" sz="980" dirty="0"/>
          </a:p>
        </p:txBody>
      </p:sp>
      <p:sp>
        <p:nvSpPr>
          <p:cNvPr id="42" name="Shape 39"/>
          <p:cNvSpPr/>
          <p:nvPr/>
        </p:nvSpPr>
        <p:spPr>
          <a:xfrm>
            <a:off x="6217920" y="3035808"/>
            <a:ext cx="384048" cy="38404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21792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6693408" y="301752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양 끝점 고도 샘플링</a:t>
            </a:r>
            <a:endParaRPr lang="en-US" sz="980" dirty="0"/>
          </a:p>
        </p:txBody>
      </p:sp>
      <p:sp>
        <p:nvSpPr>
          <p:cNvPr id="45" name="Shape 42"/>
          <p:cNvSpPr/>
          <p:nvPr/>
        </p:nvSpPr>
        <p:spPr>
          <a:xfrm>
            <a:off x="6217920" y="3639312"/>
            <a:ext cx="384048" cy="38404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21792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6693408" y="362102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경사 = 고도차 ÷ 길이</a:t>
            </a:r>
            <a:endParaRPr lang="en-US" sz="980" dirty="0"/>
          </a:p>
        </p:txBody>
      </p:sp>
      <p:sp>
        <p:nvSpPr>
          <p:cNvPr id="48" name="Text 4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점검: 연결되지 않은 필지 비율, 비정상 경사(±40% 초과) 링크 비율을 단계별로 기록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분석 프레임워크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단계로 "체감 거리"를 계산합니다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72768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84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대상지 스크리닝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60604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DEM으로 구별 경사 편차를 계산해 파일럿 구 선정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130552" y="141732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13432" y="1572768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1343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313432" y="2084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네트워크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313432" y="260604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수치지형도 도로·계단을 20~50m 링크로 분할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3803904" y="141732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86784" y="1572768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86784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986784" y="2084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 가중치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986784" y="260604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양 끝 고도차로 오르막·내리막 방향별 가중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5477256" y="141732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0136" y="1572768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60136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660136" y="2084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필지별 접근성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60136" y="260604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 필지에서 필수시설까지 평지 시간과 경사 반영 시간 계산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7150608" y="141732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33488" y="1572768"/>
            <a:ext cx="384048" cy="38404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3348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333488" y="2084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333488" y="2606040"/>
            <a:ext cx="1216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부담 지수와 고령인구를 교차해 개입 지점 도출</a:t>
            </a:r>
            <a:endParaRPr lang="en-US" sz="98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도구: QGIS(경사·지도 제작) · Python(geopandas, rasterio, networkx) · 방향 그래프 기반 최단시간 경로 탐색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경사 가중 모델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경사가 1% 오를 때마다, 길은 조금씩 길어집니다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8872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40680" y="12344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623560" y="1344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고령자 모델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623560" y="16459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평지 기준속도 0.8m/s에 Tobler 보행함수로 경사를 반영. 12% 오르막이면 1.5배, 20%면 2배가 걸린다. 내리막은 낙상 위험 가중치를 별도로 둔다.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40680" y="28803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623560" y="2990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휠체어 모델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32918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경사로 법정 기준인 1/12(약 8.3%)을 넘는 구간은 자력 통행 한계로 보고 큰 패널티를 준다. 계단은 통행 불가로 처리해 실제 우회 경로를 찾는다.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Tobler 보행함수 v = 6·exp(−3.5·|s+0.05|) km/h (s: 경사) / 휠체어 기준: 장애인등편의법 시행규칙 경사로 기울기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핵심 지표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부담 지수 (HBI, Hill Burden Index)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8016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HBI  =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경사를 반영한 소요시간  ÷  평지로 가정한 소요시간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사람, 같은 경로 기준. 1.0이면 평지와 같고, 2.0이면 체감 거리가 두 배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3774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~ 1.3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965960" y="23774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평지 수준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090672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0A33B"/>
          </a:solidFill>
          <a:ln w="12700">
            <a:solidFill>
              <a:srgbClr val="E0A33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0906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~ 1.8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965960" y="30906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 부담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803904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80390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 이상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965960" y="38039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고립 위험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931920" y="237744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60520" y="2514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예시: 김순자 할머니의 귀갓길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160520" y="2834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14.3분</a:t>
            </a:r>
            <a:pPr indent="0" marL="0">
              <a:buNone/>
            </a:pPr>
            <a:r>
              <a:rPr lang="en-US" sz="22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÷  </a:t>
            </a:r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9.4분</a:t>
            </a:r>
            <a:pPr indent="0" marL="0">
              <a:buNone/>
            </a:pPr>
            <a:r>
              <a:rPr lang="en-US" sz="22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=  </a:t>
            </a:r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HBI 1.52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4160520" y="35204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"분" 단위라 누구나 이해할 수 있고, 엘리베이터 설치 전후 효과도 같은 지표로 비교할 수 있습니다.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경계값은 파일럿 분석과 현장 실측으로 보정 예정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분석 결과 ①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평지 기준으로는 보이지 않던 사각지대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pic>
        <p:nvPicPr>
          <p:cNvPr id="6" name="Image 1" descr="img/hbi_map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457200" y="1234440"/>
            <a:ext cx="4663440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88720" y="23317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8" name="Text 4"/>
          <p:cNvSpPr txBox="1"/>
          <p:nvPr/>
        </p:nvSpPr>
        <p:spPr>
          <a:xfrm>
            <a:off x="1325880" y="2331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결과 지도 삽입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(파일럿 구 필지별 HBI)</a:t>
            </a:r>
            <a:endParaRPr lang="en-US" sz="1100" dirty="0"/>
          </a:p>
        </p:txBody>
      </p:sp>
      <p:pic>
        <p:nvPicPr>
          <p:cNvPr id="9" name="Image 2" descr="img/leg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70832"/>
            <a:ext cx="2011680" cy="33832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514600" y="44165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부담 지수</a:t>
            </a:r>
            <a:endParaRPr lang="en-US" sz="850" dirty="0"/>
          </a:p>
        </p:txBody>
      </p:sp>
      <p:sp>
        <p:nvSpPr>
          <p:cNvPr id="11" name="Text 6"/>
          <p:cNvSpPr txBox="1"/>
          <p:nvPr/>
        </p:nvSpPr>
        <p:spPr>
          <a:xfrm>
            <a:off x="539496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발견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394960" y="160020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532120" y="1655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HBI 1.8 이상 필지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5532120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곳 (전체의 ___%)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394960" y="233172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532120" y="23865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평지 기준 "양호" → 경사 반영 "취약"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5532120" y="2606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곳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394960" y="306324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532120" y="31181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거주 고령인구 추정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5532120" y="33375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___ 명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394960" y="38404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53212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인사이트 한 줄: ________________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분석 결과 ② 모델 검증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모델은 서울시의 판단을 재현하는가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 서울시 선정지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HBI 순위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10% 포함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광진구 중곡동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강서구 화곡동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관악구 봉천동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종로구 숭인동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중구 신당동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4747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사례: 대현산배수지공원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발표 휠체어 우회 약 770m  ↔  모델 산출 </a:t>
            </a:r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____m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실측 vs 모델 예측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937760" y="1627632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12" name="Text 8"/>
          <p:cNvSpPr txBox="1"/>
          <p:nvPr/>
        </p:nvSpPr>
        <p:spPr>
          <a:xfrm>
            <a:off x="5074920" y="1627632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산점도 삽입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경로 ___개, 실측 보행시간 vs 예측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 r = ____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937760" y="361188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120640" y="361188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선정되지 않았지만 HBI가 더 높은 곳 ___곳 발견 → "공모 방식이 놓친 곳"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분석 결과 ③ 데이터 기여도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하나씩 빼면, 무엇이 보이지 않게 되는가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3931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빠지는 정보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변화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모델 (3종 결합)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 제외 (평지 가정)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오르막·내리막 경사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HBI 상위 10% 취약 필지 중 ___% 누락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계단 레이어 제외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휠체어 통행 불가 구간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휠체어 우회 거리 평균 ___m 과소추정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필지 → 행정동 집계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 내부 경사 편차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사각지대 ___곳이 평균에 가려짐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3657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 없이 분석하면 가장 취약한 필지의 ___%를 놓칩니다. LX 데이터 3종은 "있으면 좋은" 데이터가 아니라 이 문제를 볼 수 있게 하는 유일한 데이터입니다.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지표: 필지 HBI 순위의 Spearman 순위상관, 상위 10% 취약 필지 일치율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분석 결과 ④ 상호제공데이터 연계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경사는 실제로 어르신의 외출을 줄이고 있는가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6459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HBI가 높은 행정동일수록, 거주 고령인구 대비 고령자 유동인구가 적다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외출 지수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9718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65세 이상 유동인구(SKT) ÷ 65세 이상 거주인구(주민등록)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시간대별로 비교해 낮 시간 외출 패턴 확인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7490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분석: HBI 상위 × KCB 소득 하위 행정동 ___곳 → 이동과 경제 부담이 겹친 최우선 지역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128016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4800600" y="1280160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산점도 삽입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x: 행정동 평균 HBI · y: 외출 지수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 r = ____ (p = ____)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3931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해석: ____________________________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SKT·KCB 데이터의 공간 단위와 연계 가능 여부는 제공 명세 및 사무국 확인 후 확정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우선순위 도출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먼저, 무엇을 할 것인가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128016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생활권 돌봄 강화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920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평지지만 고령자 밀집. 방문 돌봄, 쉼터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17520" y="128016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즉시 개입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1920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경사형 엘리베이터, 모노레일, 마을버스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474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재산출로 변화 추적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017520" y="28346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0040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예방적 정비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0" y="3474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 난간, 미끄럼 방지, 겨울철 제설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1024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고령인구 밀도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3708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부담 지수(HBI)  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77840" y="128016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0644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후보지를 기다리지 않고,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찾습니다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806440" y="228600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2025년에는 후보지 25곳 중 5곳이 선정되었습니다. 이 지도는 서울 전역에서 같은 기준으로 후보지를 먼저 제시하고, 각 후보지의 예상 수혜 인원과 단축 시간을 함께 보여줍니다.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활용 방안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누가, 어디에 쓰는가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481328"/>
            <a:ext cx="384048" cy="38404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499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이동편의시설 입지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901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경사형 엘리베이터·모노레일 후보지를 수혜 인원 × 단축 시간으로 순위화</a:t>
            </a:r>
            <a:endParaRPr lang="en-US" sz="102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3957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주체: 서울시·자치구 균형발전 부서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64608" y="1481328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6460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394960" y="1499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마을버스·정류장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1901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부담 지수가 높은 필지 밀집지로 노선·정류장 위치 조정</a:t>
            </a:r>
            <a:endParaRPr lang="en-US" sz="102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23957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주체: 자치구 교통 부서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127248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31455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의료·약 배송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3547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부담이 큰 고령 가구를 방문간호·약 배송 우선 대상으로 선정</a:t>
            </a:r>
            <a:endParaRPr lang="en-US" sz="102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40416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주체: 보건소·복지관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64608" y="3127248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6460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394960" y="31455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겨울철 제설·열선 계단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3547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결빙 시 부담이 급증하는 경사 구간에 제설·열선 우선 배치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5394960" y="40416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주체: 자치구 도로관리 부서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한 사람에게 돌아가는 변화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 한 대가 바꾸는 김순자 할머니의 귀갓길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14분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HBI 1.52 · 오르막에서 두 번 휴식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궂은 날에는 약 받는 날을 미룸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60520" y="2194560"/>
            <a:ext cx="548640" cy="457200"/>
          </a:xfrm>
          <a:prstGeom prst="rightArrow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280160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가파른 150m 구간에 경사형 엘리베이터 1기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10분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2468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HBI 약 1.0 · 평지와 같은 부담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쉬지 않고 집에 도착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계산을 필지마다 반복하면, </a:t>
            </a:r>
            <a:pPr indent="0" marL="0">
              <a:buNone/>
            </a:pPr>
            <a:r>
              <a:rPr lang="en-US" sz="12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"엘리베이터 1기가 몇 명의 하루에서 몇 분을 돌려주는가"</a:t>
            </a:r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설치 전에 알 수 있습니다.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가정: 엘리베이터가 경사 20% 구간 150m(고도 30m)를 대체, 대기·탑승 1.5분 / 잔여 300m는 평균 경사 8% / 팀 자체 산출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기대효과와 확산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서울의 언덕에서 시작해 전국으로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17320"/>
            <a:ext cx="320040" cy="320040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515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공익적 효과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후보지별 수혜 인원 × 단축 시간 산출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구 상위 후보지 ___곳 설치 시 연간 ___만 분 절감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611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이전에 취약지를 먼저 발견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2801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417320"/>
            <a:ext cx="320040" cy="320040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404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산업적 효과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지도앱 도보 경로에 경사 반영 옵션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휠체어·유아차 이용자용 경로 안내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3611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부동산·돌봄 서비스의 입지 분석 지표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35040" y="12801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0" y="1417320"/>
            <a:ext cx="320040" cy="320040"/>
          </a:xfrm>
          <a:prstGeom prst="ellipse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94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가능성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국토정보필지는 전국 단위로 제공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 확보 시 부산 산복도로 등 구릉지 도시로 확장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3611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1회 갱신으로 시설 설치 효과 추적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 실행 전략과 한계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검증하고, 넓게 확장합니다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190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구 분석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실측 보정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30552" y="128016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67712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267712" y="17190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자치구 1곳과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후보지 검토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03904" y="128016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41064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941064" y="17190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전역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지도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77256" y="128016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14416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614416" y="17190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서울시에 후보지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제안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50608" y="128016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87768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287768" y="17190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지도 공개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1회 갱신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 있는 한계와 대응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0632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 폭·노면·불법 주정차 미반영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3566160" y="3063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경로 현장 실측 보행시간과 비교해 보정계수 적용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359359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35935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필지별 거주 고령자 수 미상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3566160" y="35935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고령인구를 주거 필지 면적 비율로 배분한 추정치 사용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12394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4123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 5m 해상도 한계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3566160" y="41239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급경사가 과소추정될 수 있어 링크 분할 간격을 민감도 분석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살든,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7분은 7분이어야 합니다.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위 우리동네 · 경사 반영 이동약자 접근성 지도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 ○○○  |  한국국토정보공사 데이터 활용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 부록 1. 활용 데이터 목록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데이터 목록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2651760"/>
                <a:gridCol w="1371600"/>
                <a:gridCol w="19202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제공기관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활용 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미개방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한국국토정보공사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국토정보필지_전국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2024.06~2025.07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주거 필지 추출, 출발점 생성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미개방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한국국토정보공사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수치지형도_수도권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보행 네트워크·계단 레이어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미개방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한국국토정보공사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 5M_수도권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링크별 경사 산출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상호제공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성·연령별, 요일별, 시간대별 유동인구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2024.01~2024.12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고령자 외출 지수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상호제공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코리아크레딧뷰로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행정동 단위 소득관련 통계정보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2020.01~2023.12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저소득 고령층 중첩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공공데이터포털 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약국·의원·정류장·복지관 위치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시점 최신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목적지 설정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행정안전부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 인구통계(행정동 연령별)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고령인구 수요 추정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활용 컬럼은 데이터 명세서 확인 후 기입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 부록 2. 분석 기술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환경과 기술 스택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23444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처리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123444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QGIS 3.x · geopandas · shapely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23444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 필터링, 중심점 생성, 좌표계 변환, 토폴로지 정리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9110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911096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래스터 처리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011680" y="191109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rasterio · numpy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1911096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 결측 보간, 링크 끝점 고도 샘플링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58775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58775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분석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011680" y="258775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networkx (방향 그래프)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2587752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출발점 Dijkstra로 전 필지 최단시간 일괄 계산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26440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264408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검증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011680" y="326440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scipy · pandas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3264408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Spearman 순위상관, 실측-예측 상관, 민감도 분석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9410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941064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011680" y="394106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QGIS · matplotlib · folium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663440" y="3941064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필지별 HBI 지도, 본선 데모용 인터랙티브 웹 지도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 부록 3. 핵심 분석 코드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 비용과 언덕 부담 지수 계산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00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3520440"/>
          </a:xfrm>
          <a:prstGeom prst="roundRect">
            <a:avLst>
              <a:gd name="adj" fmla="val 2078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networkx as nx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tobler(s):                          # s: 경사 (오르막 +)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6 * np.exp(-3.5 * abs(s + 0.05))   # km/h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tobler(0)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edge_cost(length, z0, z1, user, is_stair):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(z1 - z0) / length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user == 'wheel':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is_stair: return None            # 통행 불가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abs(s) &gt; 1/12: return length * 20  # 자력 통행 한계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length / 0.8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0.8 * tobler(s) / FLAT               # 고령자 기준 0.8 m/s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length / v                        # 초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build_graph(links, user):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 = nx.DiGraph()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 in links.itertuples():             # r.z0, r.z1: DEM 샘플 고도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a, b, za, zb in [(r.n0, r.n1, r.z0, r.z1), (r.n1, r.n0, r.z1, r.z0)]: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 = edge_cost(r.length, za, zb, user, r.is_stair)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t: G.add_edge(a, b, t=t, flat=r.length / 0.8)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hbi_all(G, targets):                     # 왕복 기준: 가는 길 + 오는 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   = nx.multi_source_dijkstra_path_length(G.reverse(), targets, weight='t')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 = nx.multi_source_dijkstra_path_length(G, targets, weight='t')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flat = nx.multi_source_dijkstra_path_length(G, targets, weight='flat')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{n: (go[n] + back[n]) / (2 * flat[n]) for n in flat if n in go and n in back}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언덕 위 우리동네: 경사 반영 이동약자 접근성 지도</dc:title>
  <dc:subject>PptxGenJS Presentation</dc:subject>
  <dc:creator>PptxGenJS</dc:creator>
  <cp:lastModifiedBy>PptxGenJS</cp:lastModifiedBy>
  <cp:revision>1</cp:revision>
  <dcterms:created xsi:type="dcterms:W3CDTF">2026-09-28T08:18:24Z</dcterms:created>
  <dcterms:modified xsi:type="dcterms:W3CDTF">2026-09-28T08:18:24Z</dcterms:modified>
</cp:coreProperties>
</file>